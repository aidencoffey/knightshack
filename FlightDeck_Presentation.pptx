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esProps" Target="presProps.xml"/>
  <Relationship Id="rId3" Type="http://schemas.openxmlformats.org/officeDocument/2006/relationships/viewProps" Target="viewProps.xml"/>
  <Relationship Id="rId4" Type="http://schemas.openxmlformats.org/officeDocument/2006/relationships/theme" Target="theme/theme1.xml"/>
  <Relationship Id="rId5" Type="http://schemas.openxmlformats.org/officeDocument/2006/relationships/tableStyles" Target="tableStyles.xml"/>
  <Relationship Id="rId6" Type="http://schemas.openxmlformats.org/officeDocument/2006/relationships/slide" Target="slides/slide1.xml"/>
  <Relationship Id="rId7" Type="http://schemas.openxmlformats.org/officeDocument/2006/relationships/slide" Target="slides/slide2.xml"/>
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  <Relationship Id="rId13" Type="http://schemas.openxmlformats.org/officeDocument/2006/relationships/slide" Target="slides/slide8.xml"/>
  <Relationship Id="rId14" Type="http://schemas.openxmlformats.org/officeDocument/2006/relationships/slide" Target="slides/slide9.xml"/>
  <Relationship Id="rId15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p:sp>
        <p:nvSpPr>
          <p:cNvPr id="2" name="HeaderCard"/>
          <p:cNvSpPr/>
          <p:nvPr/>
        </p:nvSpPr>
        <p:spPr>
          <a:xfrm><a:off x="548640" y="457200"/><a:ext cx="11094720" cy="1188720"/></a:xfrm>
          <a:prstGeom prst="roundRect"><a:avLst><a:gd name="adj" fmla="val 8000"/></a:avLst></a:prstGeom>
          <a:solidFill><a:srgbClr val="1E293B"/></a:solidFill>
          <a:ln w="19050"><a:solidFill><a:srgbClr val="334155"/></a:solidFill></a:ln>
        </p:spPr>
        <p:txBody>
          <a:bodyPr lIns="274320" tIns="137160" rIns="274320" bIns="137160" anchor="ctr"/>
          <a:lstStyle/>
          <a:p>
            <a:r>
              <a:rPr lang="en-US" sz="2600" b="1"><a:solidFill><a:srgbClr val="38BDF8"/></a:solidFill></a:rPr>
              <a:t>FLIGHTDECK</a:t>
            </a:r>
          </a:p>
          <a:p>
            <a:r>
              <a:rPr lang="en-US" sz="1300"><a:solidFill><a:srgbClr val="94A3B8"/></a:solidFill></a:rPr>
              <a:t>Reverse Multi-Hub Flight Discovery & Ground Corridors</a:t>
            </a:r>
          </a:p>
        </p:txBody>
      </p:sp>
      <p:sp>
        <p:nvSpPr>
          <p:cNvPr id="3" name="ContentBox"/>
          <p:cNvSpPr/>
          <p:nvPr/>
        </p:nvSpPr>
        <p:spPr>
          <a:xfrm><a:off x="548640" y="1828800"/><a:ext cx="11094720" cy="4297680"/></a:xfrm>
          <a:prstGeom prst="roundRect"><a:avLst><a:gd name="adj" fmla="val 6000"/></a:avLst></a:prstGeom>
          <a:solidFill><a:srgbClr val="0F172A"/></a:solidFill>
          <a:ln w="12700"><a:solidFill><a:srgbClr val="1E293B"/></a:solidFill></a:ln>
        </p:spPr>
        <p:txBody>
          <a:bodyPr lIns="320000" tIns="274320" rIns="320000" bIns="274320"/>
          <a:lstStyle/>
          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Helping travelers explore smarter by breaking the single-airport silo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Multimodal ground transit economics (Brightline, Amtrak, High-Speed Rail)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Full post-booking cultural readiness &amp; intelligent monetization</a:t>
            </a:r>
          </a:p>
        </p:txBody>
      </p:sp>
      <p:sp>
        <p:nvSpPr>
          <p:cNvPr id="4" name="Footer"/>
          <p:cNvSpPr/>
          <p:nvPr/>
        </p:nvSpPr>
        <p:spPr>
          <a:xfrm><a:off x="548640" y="6309360"/><a:ext cx="11094720" cy="365760"/></a:xfrm>
          <a:prstGeom prst="rect"><a:avLst/></a:prstGeom>
          <a:noFill/>
        </p:spPr>
        <p:txBody>
          <a:bodyPr lIns="0" tIns="0" rIns="0" bIns="0"/>
          <a:lstStyle/>
          <a:p>
            <a:r>
              <a:rPr lang="en-US" sz="1000"><a:solidFill><a:srgbClr val="64748B"/></a:solidFill></a:rPr>
              <a:t>FlightDeck — Reverse Multi-Hub Flight Discovery | Slide 1 of 10</a:t>
            </a:r>
          </a:p>
        </p:txBody>
      </p:sp>
    </p:spTree>
  </p:cSld>
  <p:clrMapOvr><a:masterClrMap/>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Card"/>
          <p:cNvSpPr/>
          <p:nvPr/>
        </p:nvSpPr>
        <p:spPr>
          <a:xfrm>
            <a:off x="548640" y="457200"/>
            <a:ext cx="1109472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lIns="274320" tIns="137160" rIns="274320" bIns="137160" anchor="ctr"/>
          <a:lstStyle/>
          <a:p>
            <a:r>
              <a:rPr lang="en-US" sz="2600" b="1">
                <a:solidFill>
                  <a:srgbClr val="38BDF8"/>
                </a:solidFill>
              </a:rPr>
              <a:t>The Problem: The Single-Airport Silo</a:t>
            </a:r>
          </a:p>
          <a:p>
            <a:r>
              <a:rPr lang="en-US" sz="1300">
                <a:solidFill>
                  <a:srgbClr val="94A3B8"/>
                </a:solidFill>
              </a:rPr>
              <a:t>Traditional Flight Search Leaves Hundreds of Dollars on the Table</a:t>
            </a:r>
          </a:p>
        </p:txBody>
      </p:sp>
      <p:sp>
        <p:nvSpPr>
          <p:cNvPr id="3" name="ContentBox"/>
          <p:cNvSpPr/>
          <p:nvPr/>
        </p:nvSpPr>
        <p:spPr>
          <a:xfrm>
            <a:off x="548640" y="1828800"/>
            <a:ext cx="7200000" cy="4297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lIns="320000" tIns="274320" rIns="320000" bIns="274320"/>
          <a:lstStyle/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Legacy tools (Google Flights, Skyscanner) search from a single airport code.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Real World Flaw: A traveler in Tampa (TPA) searching for Zurich (ZRH) sees $850+ fares.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Orlando (MCO) is just 80 miles away via Brightline/I-4 and has direct Zurich flights for $380.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The Traveler's Dilemma: 4+ open tabs, manual train schedules, complex mental math.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Result: Millions of travelers overpay by $300-$500 per international departure.</a:t>
            </a:r>
          </a:p>
        </p:txBody>
      </p:sp>
      <p:sp>
        <p:nvSpPr>
          <p:cNvPr id="4" name="StatCard"/>
          <p:cNvSpPr/>
          <p:nvPr/>
        </p:nvSpPr>
        <p:spPr>
          <a:xfrm>
            <a:off x="8046720" y="1828800"/>
            <a:ext cx="3596640" cy="4297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txBody>
          <a:bodyPr lIns="274320" tIns="457200" rIns="274320" bIns="457200" anchor="ctr"/>
          <a:lstStyle/>
          <a:p>
            <a:pPr algn="ctr"/>
            <a:r>
              <a:rPr lang="en-US" sz="4400" b="1">
                <a:solidFill>
                  <a:srgbClr val="34D399"/>
                </a:solidFill>
              </a:rPr>
              <a:t>$420+ Wasted</a:t>
            </a:r>
          </a:p>
          <a:p>
            <a:pPr algn="ctr" spaceBefore="200000"/>
            <a:r>
              <a:rPr lang="en-US" sz="1400">
                <a:solidFill>
                  <a:srgbClr val="94A3B8"/>
                </a:solidFill>
              </a:rPr>
              <a:t>Average avoidable overspend on regional long-haul routes</a:t>
            </a:r>
          </a:p>
          <a:p>
            <a:pPr algn="ctr" spaceBefore="350000"/>
            <a:r>
              <a:rPr lang="en-US" sz="1100" i="1">
                <a:solidFill>
                  <a:srgbClr val="64748B"/>
                </a:solidFill>
              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
            <a:off x="548640" y="6309360"/>
            <a:ext cx="11094720" cy="36576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en-US" sz="1000">
                <a:solidFill>
                  <a:srgbClr val="64748B"/>
                </a:solidFill>
              </a:rPr>
              <a:t>FlightDeck — Reverse Multi-Hub Flight Discovery | Slide 2 of 10</a:t>
            </a:r>
          </a:p>
        </p:txBody>
      </p:sp>
    </p:spTree>
  </p:cSld>
  <p:clrMapOvr>
    <a:masterClrMap/>
  </p:clrMapOvr>
</p:sld>
</file>

<file path=ppt/slides/slide3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p:sp>
        <p:nvSpPr>
          <p:cNvPr id="2" name="HeaderCard"/>
          <p:cNvSpPr/>
          <p:nvPr/>
        </p:nvSpPr>
        <p:spPr>
          <a:xfrm><a:off x="548640" y="457200"/><a:ext cx="11094720" cy="1188720"/></a:xfrm>
          <a:prstGeom prst="roundRect"><a:avLst><a:gd name="adj" fmla="val 8000"/></a:avLst></a:prstGeom>
          <a:solidFill><a:srgbClr val="1E293B"/></a:solidFill>
          <a:ln w="19050"><a:solidFill><a:srgbClr val="334155"/></a:solidFill></a:ln>
        </p:spPr>
        <p:txBody>
          <a:bodyPr lIns="274320" tIns="137160" rIns="274320" bIns="137160" anchor="ctr"/>
          <a:lstStyle/>
          <a:p>
            <a:r>
              <a:rPr lang="en-US" sz="2600" b="1"><a:solidFill><a:srgbClr val="38BDF8"/></a:solidFill></a:rPr>
              <a:t>The Solution: FlightDeck Engine</a:t>
            </a:r>
          </a:p>
          <a:p>
            <a:r>
              <a:rPr lang="en-US" sz="1300"><a:solidFill><a:srgbClr val="94A3B8"/></a:solidFill></a:rPr>
              <a:t>Reverse Search: Ground Catchment Radius to Global Destination</a:t>
            </a:r>
          </a:p>
        </p:txBody>
      </p:sp>
      <p:sp>
        <p:nvSpPr>
          <p:cNvPr id="3" name="ContentBox"/>
          <p:cNvSpPr/>
          <p:nvPr/>
        </p:nvSpPr>
        <p:spPr>
          <a:xfrm><a:off x="548640" y="1828800"/><a:ext cx="7200000" cy="4297680"/></a:xfrm>
          <a:prstGeom prst="roundRect"><a:avLst><a:gd name="adj" fmla="val 6000"/></a:avLst></a:prstGeom>
          <a:solidFill><a:srgbClr val="0F172A"/></a:solidFill>
          <a:ln w="12700"><a:solidFill><a:srgbClr val="1E293B"/></a:solidFill></a:ln>
        </p:spPr>
        <p:txBody>
          <a:bodyPr lIns="320000" tIns="274320" rIns="320000" bIns="274320"/>
          <a:lstStyle/>
          
          <a:p>
            <a:pPr marL="285750" indent="-285750" spaceBefore="120000">
              <a:buFont typeface="Arial"/>
              <a:buChar char="•"/>
            </a:pPr>
            <a:r>
              <a:rPr lang="en-US" sz="1500" b="1"><a:solidFill><a:srgbClr val="E2E8F0"/></a:solidFill></a:rPr>
              <a:t>1. Dynamic Overland Catchment: Scans all commercial hubs within a 50-300+ mile radius.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<a:solidFill><a:srgbClr val="E2E8F0"/></a:solidFill></a:rPr>
              <a:t>2. Real Ground Corridors: High-speed rail (Brightline, ICE, TGV), express coach, and driving costs.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<a:solidFill><a:srgbClr val="E2E8F0"/></a:solidFill></a:rPr>
              <a:t>3. Multi-Provider Fare Streaming: Real-time queries via Travelpayouts / Aviasales &amp; Ryanair.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<a:solidFill><a:srgbClr val="E2E8F0"/></a:solidFill></a:rPr>
              <a:t>4. True Opportunity Cost Ranking: Total economic cost accounting for passenger hourly time value.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<a:solidFill><a:srgbClr val="E2E8F0"/></a:solidFill></a:rPr>
              <a:t>5. Travel Readiness Dossier: Automated emergency numbers, cultural taboos, phrases, and packing guide.</a:t>
            </a:r>
          </a:p>
        </p:txBody>
      </p:sp>
      <p:sp>
        <p:nvSpPr>
          <p:cNvPr id="4" name="StatCard"/>
          <p:cNvSpPr/>
          <p:nvPr/>
        </p:nvSpPr>
        <p:spPr>
          <a:xfrm><a:off x="8046720" y="1828800"/><a:ext cx="3596640" cy="4297680"/></a:xfrm>
          <a:prstGeom prst="roundRect"><a:avLst><a:gd name="adj" fmla="val 8000"/></a:avLst></a:prstGeom>
          <a:solidFill><a:srgbClr val="1E293B"/></a:solidFill>
          <a:ln w="25400"><a:solidFill><a:srgbClr val="38BDF8"/></a:solidFill></a:ln>
        </p:spPr>
        <p:txBody>
          <a:bodyPr lIns="274320" tIns="457200" rIns="274320" bIns="457200" anchor="ctr"/>
          <a:lstStyle/>
          <a:p>
            <a:pPr algn="ctr"/>
            <a:r>
              <a:rPr lang="en-US" sz="4400" b="1"><a:solidFill><a:srgbClr val="34D399"/></a:solidFill></a:rPr>
              <a:t>< 1.2s</a:t>
            </a:r>
          </a:p>
          <a:p>
            <a:pPr algn="ctr" spaceBefore="200000"/>
            <a:r>
              <a:rPr lang="en-US" sz="1400"><a:solidFill><a:srgbClr val="94A3B8"/></a:solidFill></a:rPr>
              <a:t>Time to evaluate 15+ multimodal hub combinations concurrently</a:t>
            </a:r>
          </a:p>
          <a:p>
            <a:pPr algn="ctr" spaceBefore="350000"/>
            <a:r>
              <a:rPr lang="en-US" sz="1100" i="1"><a:solidFill><a:srgbClr val="64748B"/></a:solidFill>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<a:off x="548640" y="6309360"/><a:ext cx="11094720" cy="365760"/></a:xfrm>
          <a:prstGeom prst="rect"><a:avLst/></a:prstGeom>
          <a:noFill/>
        </p:spPr>
        <p:txBody>
          <a:bodyPr lIns="0" tIns="0" rIns="0" bIns="0"/>
          <a:lstStyle/>
          <a:p>
            <a:r>
              <a:rPr lang="en-US" sz="1000"><a:solidFill><a:srgbClr val="64748B"/></a:solidFill></a:rPr>
              <a:t>FlightDeck — Reverse Multi-Hub Flight Discovery | Slide 3 of 10</a:t>
            </a:r>
          </a:p>
        </p:txBody>
      </p:sp>
    </p:spTree>
  </p:cSld>
  <p:clrMapOvr><a:masterClrMap/></p:clrMapOvr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p:sp>
        <p:nvSpPr>
          <p:cNvPr id="2" name="HeaderCard"/>
          <p:cNvSpPr/>
          <p:nvPr/>
        </p:nvSpPr>
        <p:spPr>
          <a:xfrm><a:off x="548640" y="457200"/><a:ext cx="11094720" cy="1188720"/></a:xfrm>
          <a:prstGeom prst="roundRect"><a:avLst><a:gd name="adj" fmla="val 8000"/></a:avLst></a:prstGeom>
          <a:solidFill><a:srgbClr val="1E293B"/></a:solidFill>
          <a:ln w="19050"><a:solidFill><a:srgbClr val="334155"/></a:solidFill></a:ln>
        </p:spPr>
        <p:txBody>
          <a:bodyPr lIns="274320" tIns="137160" rIns="274320" bIns="137160" anchor="ctr"/>
          <a:lstStyle/>
          <a:p>
            <a:r>
              <a:rPr lang="en-US" sz="2600" b="1"><a:solidFill><a:srgbClr val="38BDF8"/></a:solidFill></a:rPr>
              <a:t>The Opportunity Cost Equation</a:t>
            </a:r>
          </a:p>
          <a:p>
            <a:r>
              <a:rPr lang="en-US" sz="1300"><a:solidFill><a:srgbClr val="94A3B8"/></a:solidFill></a:rPr>
              <a:t>Making Multimodal Trade-Offs Economically Rational</a:t>
            </a:r>
          </a:p>
        </p:txBody>
      </p:sp>
      <p:sp>
        <p:nvSpPr>
          <p:cNvPr id="3" name="ContentBox"/>
          <p:cNvSpPr/>
          <p:nvPr/>
        </p:nvSpPr>
        <p:spPr>
          <a:xfrm><a:off x="548640" y="1828800"/><a:ext cx="7200000" cy="4297680"/></a:xfrm>
          <a:prstGeom prst="roundRect"><a:avLst><a:gd name="adj" fmla="val 6000"/></a:avLst></a:prstGeom>
          <a:solidFill><a:srgbClr val="0F172A"/></a:solidFill>
          <a:ln w="12700"><a:solidFill><a:srgbClr val="1E293B"/></a:solidFill></a:ln>
        </p:spPr>
        <p:txBody>
          <a:bodyPr lIns="320000" tIns="274320" rIns="320000" bIns="274320"/>
          <a:lstStyle/>
          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Raw flight savings alone are misleading if ground transit wastes your entire day.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<a:solidFill><a:srgbClr val="E2E8F0"/></a:solidFill></a:rPr>
              <a:t>FlightDeck's Core Economic Formula: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<a:solidFill><a:srgbClr val="E2E8F0"/></a:solidFill></a:rPr>
              <a:t>   Total Cost = Flight Fare + Ground Fare + (Transit Hours × Traveler $/Hour)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<a:solidFill><a:srgbClr val="E2E8F0"/></a:solidFill></a:rPr>
              <a:t>   Net Economic Savings = Home Base Cost - Alternate Hub Total Cost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Example Case Study (Tampa to Zurich):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   - TPA Direct Baseline: $845.00 total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   - MCO Hub: $380 Flight + $25 Brightline + (1.3 hrs × $15/hr = $19.50) = $424.50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34D399"/></a:solidFill></a:rPr>
              <a:t>   - Net Real Savings to Traveler: $420.50 (Nearly 50% discount!)</a:t>
            </a:r>
          </a:p>
        </p:txBody>
      </p:sp>
      <p:sp>
        <p:nvSpPr>
          <p:cNvPr id="4" name="StatCard"/>
          <p:cNvSpPr/>
          <p:nvPr/>
        </p:nvSpPr>
        <p:spPr>
          <a:xfrm><a:off x="8046720" y="1828800"/><a:ext cx="3596640" cy="4297680"/></a:xfrm>
          <a:prstGeom prst="roundRect"><a:avLst><a:gd name="adj" fmla="val 8000"/></a:avLst></a:prstGeom>
          <a:solidFill><a:srgbClr val="1E293B"/></a:solidFill>
          <a:ln w="25400"><a:solidFill><a:srgbClr val="38BDF8"/></a:solidFill></a:ln>
        </p:spPr>
        <p:txBody>
          <a:bodyPr lIns="274320" tIns="457200" rIns="274320" bIns="457200" anchor="ctr"/>
          <a:lstStyle/>
          <a:p>
            <a:pPr algn="ctr"/>
            <a:r>
              <a:rPr lang="en-US" sz="4400" b="1"><a:solidFill><a:srgbClr val="34D399"/></a:solidFill></a:rPr>
              <a:t>49.8%</a:t>
            </a:r>
          </a:p>
          <a:p>
            <a:pPr algn="ctr" spaceBefore="200000"/>
            <a:r>
              <a:rPr lang="en-US" sz="1400"><a:solidFill><a:srgbClr val="94A3B8"/></a:solidFill></a:rPr>
              <a:t>Net cash & time savings delivered on the flagship corridor</a:t>
            </a:r>
          </a:p>
          <a:p>
            <a:pPr algn="ctr" spaceBefore="350000"/>
            <a:r>
              <a:rPr lang="en-US" sz="1100" i="1"><a:solidFill><a:srgbClr val="64748B"/></a:solidFill>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<a:off x="548640" y="6309360"/><a:ext cx="11094720" cy="365760"/></a:xfrm>
          <a:prstGeom prst="rect"><a:avLst/></a:prstGeom>
          <a:noFill/>
        </p:spPr>
        <p:txBody>
          <a:bodyPr lIns="0" tIns="0" rIns="0" bIns="0"/>
          <a:lstStyle/>
          <a:p>
            <a:r>
              <a:rPr lang="en-US" sz="1000"><a:solidFill><a:srgbClr val="64748B"/></a:solidFill></a:rPr>
              <a:t>FlightDeck — Reverse Multi-Hub Flight Discovery | Slide 4 of 10</a:t>
            </a:r>
          </a:p>
        </p:txBody>
      </p:sp>
    </p:spTree>
  </p:cSld>
  <p:clrMapOvr><a:masterClrMap/>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Card"/>
          <p:cNvSpPr/>
          <p:nvPr/>
        </p:nvSpPr>
        <p:spPr>
          <a:xfrm>
            <a:off x="548640" y="457200"/>
            <a:ext cx="1109472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lIns="274320" tIns="137160" rIns="274320" bIns="137160" anchor="ctr"/>
          <a:lstStyle/>
          <a:p>
            <a:r>
              <a:rPr lang="en-US" sz="2600" b="1">
                <a:solidFill>
                  <a:srgbClr val="38BDF8"/>
                </a:solidFill>
              </a:rPr>
              <a:t>Live Product Demonstration (3-Minute Tour)</a:t>
            </a:r>
          </a:p>
          <a:p>
            <a:r>
              <a:rPr lang="en-US" sz="1300">
                <a:solidFill>
                  <a:srgbClr val="94A3B8"/>
                </a:solidFill>
              </a:rPr>
              <a:t>What Makes FlightDeck a Production-Grade Experience</a:t>
            </a:r>
          </a:p>
        </p:txBody>
      </p:sp>
      <p:sp>
        <p:nvSpPr>
          <p:cNvPr id="3" name="ContentBox"/>
          <p:cNvSpPr/>
          <p:nvPr/>
        </p:nvSpPr>
        <p:spPr>
          <a:xfrm>
            <a:off x="548640" y="1828800"/>
            <a:ext cx="7200000" cy="4297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lIns="320000" tIns="274320" rIns="320000" bIns="274320"/>
          <a:lstStyle/>
          <a:p>
            <a:pPr marL="285750" indent="-285750" spaceBefore="120000">
              <a:buFont typeface="Arial"/>
              <a:buChar char="•"/>
            </a:pPr>
            <a:r>
              <a:rPr lang="en-US" sz="1500" b="1">
                <a:solidFill>
                  <a:srgbClr val="E2E8F0"/>
                </a:solidFill>
              </a:rPr>
              <a:t>1. Real-time Streaming UI: NDJSON streaming updates cards as candidate hubs return.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
                <a:solidFill>
                  <a:srgbClr val="E2E8F0"/>
                </a:solidFill>
              </a:rPr>
              <a:t>2. Geospatial Leaflet Radar: Visualizes the catchment radius, ground leg, and great-circle flight arc.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
                <a:solidFill>
                  <a:srgbClr val="E2E8F0"/>
                </a:solidFill>
              </a:rPr>
              <a:t>3. Interactive Cost Sliders: Dynamically adjust your hourly wage and maximum ground distance.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
                <a:solidFill>
                  <a:srgbClr val="E2E8F0"/>
                </a:solidFill>
              </a:rPr>
              <a:t>4. Destination Readiness: Click 'Swiss Cultural Dossier' for local etiquette and emergency phrases.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1">
                <a:solidFill>
                  <a:srgbClr val="E2E8F0"/>
                </a:solidFill>
              </a:rPr>
              <a:t>5. Saved Trips Drawer: Persistent SQLite storage (`trips.db`) with offline JSON sync.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6. Book Route Monetization: Secure `/api/go` gateway injecting affiliate tracking (`708226`).</a:t>
            </a:r>
          </a:p>
        </p:txBody>
      </p:sp>
      <p:sp>
        <p:nvSpPr>
          <p:cNvPr id="4" name="StatCard"/>
          <p:cNvSpPr/>
          <p:nvPr/>
        </p:nvSpPr>
        <p:spPr>
          <a:xfrm>
            <a:off x="8046720" y="1828800"/>
            <a:ext cx="3596640" cy="4297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txBody>
          <a:bodyPr lIns="274320" tIns="457200" rIns="274320" bIns="457200" anchor="ctr"/>
          <a:lstStyle/>
          <a:p>
            <a:pPr algn="ctr"/>
            <a:r>
              <a:rPr lang="en-US" sz="4400" b="1">
                <a:solidFill>
                  <a:srgbClr val="34D399"/>
                </a:solidFill>
              </a:rPr>
              <a:t>100% Live</a:t>
            </a:r>
          </a:p>
          <a:p>
            <a:pPr algn="ctr" spaceBefore="200000"/>
            <a:r>
              <a:rPr lang="en-US" sz="1400">
                <a:solidFill>
                  <a:srgbClr val="94A3B8"/>
                </a:solidFill>
              </a:rPr>
              <a:t>Zero mockup screenshots; fully functional Next.js 14 web app</a:t>
            </a:r>
          </a:p>
          <a:p>
            <a:pPr algn="ctr" spaceBefore="350000"/>
            <a:r>
              <a:rPr lang="en-US" sz="1100" i="1">
                <a:solidFill>
                  <a:srgbClr val="64748B"/>
                </a:solidFill>
              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
            <a:off x="548640" y="6309360"/>
            <a:ext cx="11094720" cy="36576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en-US" sz="1000">
                <a:solidFill>
                  <a:srgbClr val="64748B"/>
                </a:solidFill>
              </a:rPr>
              <a:t>FlightDeck — Reverse Multi-Hub Flight Discovery | Slide 5 of 10</a:t>
            </a:r>
          </a:p>
        </p:txBody>
      </p:sp>
    </p:spTree>
  </p:cSld>
  <p:clrMapOvr>
    <a:masterClrMap/>
  </p:clrMapOvr>
</p:sld>
</file>

<file path=ppt/slides/slide6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p:sp>
        <p:nvSpPr>
          <p:cNvPr id="2" name="HeaderCard"/>
          <p:cNvSpPr/>
          <p:nvPr/>
        </p:nvSpPr>
        <p:spPr>
          <a:xfrm><a:off x="548640" y="457200"/><a:ext cx="11094720" cy="1188720"/></a:xfrm>
          <a:prstGeom prst="roundRect"><a:avLst><a:gd name="adj" fmla="val 8000"/></a:avLst></a:prstGeom>
          <a:solidFill><a:srgbClr val="1E293B"/></a:solidFill>
          <a:ln w="19050"><a:solidFill><a:srgbClr val="334155"/></a:solidFill></a:ln>
        </p:spPr>
        <p:txBody>
          <a:bodyPr lIns="274320" tIns="137160" rIns="274320" bIns="137160" anchor="ctr"/>
          <a:lstStyle/>
          <a:p>
            <a:r>
              <a:rPr lang="en-US" sz="2600" b="1"><a:solidFill><a:srgbClr val="38BDF8"/></a:solidFill></a:rPr>
              <a:t>Technical Architecture & Resiliency</a:t>
            </a:r>
          </a:p>
          <a:p>
            <a:r>
              <a:rPr lang="en-US" sz="1300"><a:solidFill><a:srgbClr val="94A3B8"/></a:solidFill></a:rPr>
              <a:t>Engineered for Zero Stage Failures and Maximum Throughput</a:t>
            </a:r>
          </a:p>
        </p:txBody>
      </p:sp>
      <p:sp>
        <p:nvSpPr>
          <p:cNvPr id="3" name="ContentBox"/>
          <p:cNvSpPr/>
          <p:nvPr/>
        </p:nvSpPr>
        <p:spPr>
          <a:xfrm><a:off x="548640" y="1828800"/><a:ext cx="7200000" cy="4297680"/></a:xfrm>
          <a:prstGeom prst="roundRect"><a:avLst><a:gd name="adj" fmla="val 6000"/></a:avLst></a:prstGeom>
          <a:solidFill><a:srgbClr val="0F172A"/></a:solidFill>
          <a:ln w="12700"><a:solidFill><a:srgbClr val="1E293B"/></a:solidFill></a:ln>
        </p:spPr>
        <p:txBody>
          <a:bodyPr lIns="320000" tIns="274320" rIns="320000" bIns="274320"/>
          <a:lstStyle/>
          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Frontend: Next.js 14 App Router, Tailwind CSS, Framer Motion, Leaflet React Maps.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Concurrency Controller: In-flight limiters (p-limit: 5) prevent Travelpayouts 429 rate limits.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Deterministic Benchmark Fallback: 100% stage reliability even if hotel Wi-Fi fails completely.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Database Engine: Node.js 22 native `node:sqlite` dual-engine with JSON snapshot synchronization.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Monetization Pipeline: Strict DDMM date slug sanitization with allowlisted redirect validation.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Test Coverage: 79 comprehensive automated unit &amp; integration tests (100% passing).</a:t>
            </a:r>
          </a:p>
        </p:txBody>
      </p:sp>
      <p:sp>
        <p:nvSpPr>
          <p:cNvPr id="4" name="StatCard"/>
          <p:cNvSpPr/>
          <p:nvPr/>
        </p:nvSpPr>
        <p:spPr>
          <a:xfrm><a:off x="8046720" y="1828800"/><a:ext cx="3596640" cy="4297680"/></a:xfrm>
          <a:prstGeom prst="roundRect"><a:avLst><a:gd name="adj" fmla="val 8000"/></a:avLst></a:prstGeom>
          <a:solidFill><a:srgbClr val="1E293B"/></a:solidFill>
          <a:ln w="25400"><a:solidFill><a:srgbClr val="38BDF8"/></a:solidFill></a:ln>
        </p:spPr>
        <p:txBody>
          <a:bodyPr lIns="274320" tIns="457200" rIns="274320" bIns="457200" anchor="ctr"/>
          <a:lstStyle/>
          <a:p>
            <a:pPr algn="ctr"/>
            <a:r>
              <a:rPr lang="en-US" sz="4400" b="1"><a:solidFill><a:srgbClr val="34D399"/></a:solidFill></a:rPr>
              <a:t>79 Tests</a:t>
            </a:r>
          </a:p>
          <a:p>
            <a:pPr algn="ctr" spaceBefore="200000"/>
            <a:r>
              <a:rPr lang="en-US" sz="1400"><a:solidFill><a:srgbClr val="94A3B8"/></a:solidFill></a:rPr>
              <a:t>Zero test regressions across mathematical, routing, and DB suites</a:t>
            </a:r>
          </a:p>
          <a:p>
            <a:pPr algn="ctr" spaceBefore="350000"/>
            <a:r>
              <a:rPr lang="en-US" sz="1100" i="1"><a:solidFill><a:srgbClr val="64748B"/></a:solidFill>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<a:off x="548640" y="6309360"/><a:ext cx="11094720" cy="365760"/></a:xfrm>
          <a:prstGeom prst="rect"><a:avLst/></a:prstGeom>
          <a:noFill/>
        </p:spPr>
        <p:txBody>
          <a:bodyPr lIns="0" tIns="0" rIns="0" bIns="0"/>
          <a:lstStyle/>
          <a:p>
            <a:r>
              <a:rPr lang="en-US" sz="1000"><a:solidFill><a:srgbClr val="64748B"/></a:solidFill></a:rPr>
              <a:t>FlightDeck — Reverse Multi-Hub Flight Discovery | Slide 6 of 10</a:t>
            </a:r>
          </a:p>
        </p:txBody>
      </p:sp>
    </p:spTree>
  </p:cSld>
  <p:clrMapOvr><a:masterClrMap/></p:clrMapOvr>
</p:sld>
</file>

<file path=ppt/slides/slide7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p:sp>
        <p:nvSpPr>
          <p:cNvPr id="2" name="HeaderCard"/>
          <p:cNvSpPr/>
          <p:nvPr/>
        </p:nvSpPr>
        <p:spPr>
          <a:xfrm><a:off x="548640" y="457200"/><a:ext cx="11094720" cy="1188720"/></a:xfrm>
          <a:prstGeom prst="roundRect"><a:avLst><a:gd name="adj" fmla="val 8000"/></a:avLst></a:prstGeom>
          <a:solidFill><a:srgbClr val="1E293B"/></a:solidFill>
          <a:ln w="19050"><a:solidFill><a:srgbClr val="334155"/></a:solidFill></a:ln>
        </p:spPr>
        <p:txBody>
          <a:bodyPr lIns="274320" tIns="137160" rIns="274320" bIns="137160" anchor="ctr"/>
          <a:lstStyle/>
          <a:p>
            <a:r>
              <a:rPr lang="en-US" sz="2600" b="1"><a:solidFill><a:srgbClr val="38BDF8"/></a:solidFill></a:rPr>
              <a:t>Monetization & Unit Economics</a:t>
            </a:r>
          </a:p>
          <a:p>
            <a:r>
              <a:rPr lang="en-US" sz="1300"><a:solidFill><a:srgbClr val="94A3B8"/></a:solidFill></a:rPr>
              <a:t>High-Intent Travel Affiliate Revenue from Day 1</a:t>
            </a:r>
          </a:p>
        </p:txBody>
      </p:sp>
      <p:sp>
        <p:nvSpPr>
          <p:cNvPr id="3" name="ContentBox"/>
          <p:cNvSpPr/>
          <p:nvPr/>
        </p:nvSpPr>
        <p:spPr>
          <a:xfrm><a:off x="548640" y="1828800"/><a:ext cx="7200000" cy="4297680"/></a:xfrm>
          <a:prstGeom prst="roundRect"><a:avLst><a:gd name="adj" fmla="val 6000"/></a:avLst></a:prstGeom>
          <a:solidFill><a:srgbClr val="0F172A"/></a:solidFill>
          <a:ln w="12700"><a:solidFill><a:srgbClr val="1E293B"/></a:solidFill></a:ln>
        </p:spPr>
        <p:txBody>
          <a:bodyPr lIns="320000" tIns="274320" rIns="320000" bIns="274320"/>
          <a:lstStyle/>
          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Primary Revenue: Flight booking commissions via Travelpayouts / Aviasales (1.5% - 3.0% of cart).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   - Typical long-haul booking: $12 - $35 affiliate payout per completed reservation.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Secondary Revenue: Ground transit commissions (Brightline, Amtrak, Trainline, Omio API).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Tertiary Revenue: Ancillary travel insurance, eSIM packages, and regional cultural experiences.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Zero CAC Organic Virality: Extreme price-drop sharing ('I saved $400 taking Brightline to MCO').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B2B Expansion: Licensing the Reverse-Hub API to enterprise corporate travel managers.</a:t>
            </a:r>
          </a:p>
        </p:txBody>
      </p:sp>
      <p:sp>
        <p:nvSpPr>
          <p:cNvPr id="4" name="StatCard"/>
          <p:cNvSpPr/>
          <p:nvPr/>
        </p:nvSpPr>
        <p:spPr>
          <a:xfrm><a:off x="8046720" y="1828800"/><a:ext cx="3596640" cy="4297680"/></a:xfrm>
          <a:prstGeom prst="roundRect"><a:avLst><a:gd name="adj" fmla="val 8000"/></a:avLst></a:prstGeom>
          <a:solidFill><a:srgbClr val="1E293B"/></a:solidFill>
          <a:ln w="25400"><a:solidFill><a:srgbClr val="38BDF8"/></a:solidFill></a:ln>
        </p:spPr>
        <p:txBody>
          <a:bodyPr lIns="274320" tIns="457200" rIns="274320" bIns="457200" anchor="ctr"/>
          <a:lstStyle/>
          <a:p>
            <a:pPr algn="ctr"/>
            <a:r>
              <a:rPr lang="en-US" sz="4400" b="1"><a:solidFill><a:srgbClr val="34D399"/></a:solidFill></a:rPr>
              <a:t>$18.50</a:t>
            </a:r>
          </a:p>
          <a:p>
            <a:pPr algn="ctr" spaceBefore="200000"/>
            <a:r>
              <a:rPr lang="en-US" sz="1400"><a:solidFill><a:srgbClr val="94A3B8"/></a:solidFill></a:rPr>
              <a:t>Average blended affiliate commission per international itinerary</a:t>
            </a:r>
          </a:p>
          <a:p>
            <a:pPr algn="ctr" spaceBefore="350000"/>
            <a:r>
              <a:rPr lang="en-US" sz="1100" i="1"><a:solidFill><a:srgbClr val="64748B"/></a:solidFill>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<a:off x="548640" y="6309360"/><a:ext cx="11094720" cy="365760"/></a:xfrm>
          <a:prstGeom prst="rect"><a:avLst/></a:prstGeom>
          <a:noFill/>
        </p:spPr>
        <p:txBody>
          <a:bodyPr lIns="0" tIns="0" rIns="0" bIns="0"/>
          <a:lstStyle/>
          <a:p>
            <a:r>
              <a:rPr lang="en-US" sz="1000"><a:solidFill><a:srgbClr val="64748B"/></a:solidFill></a:rPr>
              <a:t>FlightDeck — Reverse Multi-Hub Flight Discovery | Slide 7 of 10</a:t>
            </a:r>
          </a:p>
        </p:txBody>
      </p:sp>
    </p:spTree>
  </p:cSld>
  <p:clrMapOvr><a:masterClrMap/></p:clrMapOvr>
</p:sld>
</file>

<file path=ppt/slides/slide8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p:sp>
        <p:nvSpPr>
          <p:cNvPr id="2" name="HeaderCard"/>
          <p:cNvSpPr/>
          <p:nvPr/>
        </p:nvSpPr>
        <p:spPr>
          <a:xfrm><a:off x="548640" y="457200"/><a:ext cx="11094720" cy="1188720"/></a:xfrm>
          <a:prstGeom prst="roundRect"><a:avLst><a:gd name="adj" fmla="val 8000"/></a:avLst></a:prstGeom>
          <a:solidFill><a:srgbClr val="1E293B"/></a:solidFill>
          <a:ln w="19050"><a:solidFill><a:srgbClr val="334155"/></a:solidFill></a:ln>
        </p:spPr>
        <p:txBody>
          <a:bodyPr lIns="274320" tIns="137160" rIns="274320" bIns="137160" anchor="ctr"/>
          <a:lstStyle/>
          <a:p>
            <a:r>
              <a:rPr lang="en-US" sz="2600" b="1"><a:solidFill><a:srgbClr val="38BDF8"/></a:solidFill></a:rPr>
              <a:t>Competitive Landscape & The Moat</a:t>
            </a:r>
          </a:p>
          <a:p>
            <a:r>
              <a:rPr lang="en-US" sz="1300"><a:solidFill><a:srgbClr val="94A3B8"/></a:solidFill></a:rPr>
              <a:t>Why Google Flights and Skyscanner Won't Easily Copy This</a:t>
            </a:r>
          </a:p>
        </p:txBody>
      </p:sp>
      <p:sp>
        <p:nvSpPr>
          <p:cNvPr id="3" name="ContentBox"/>
          <p:cNvSpPr/>
          <p:nvPr/>
        </p:nvSpPr>
        <p:spPr>
          <a:xfrm><a:off x="548640" y="1828800"/><a:ext cx="7200000" cy="4297680"/></a:xfrm>
          <a:prstGeom prst="roundRect"><a:avLst><a:gd name="adj" fmla="val 6000"/></a:avLst></a:prstGeom>
          <a:solidFill><a:srgbClr val="0F172A"/></a:solidFill>
          <a:ln w="12700"><a:solidFill><a:srgbClr val="1E293B"/></a:solidFill></a:ln>
        </p:spPr>
        <p:txBody>
          <a:bodyPr lIns="320000" tIns="274320" rIns="320000" bIns="274320"/>
          <a:lstStyle/>
          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Legacy GDS Bias: Amadeus, Sabre, and ITA Software are architected around airport codes, not rail corridors.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Google Flights' Dilemma: Airlines pay Google billions in ads; promoting rail legs cannibalizes regional feeder flights.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Intermodal Data Asymmetry: Ground transit schedules are fragmented across state and regional operators.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FlightDeck's Proprietary Matrix: Pre-indexed overland corridors with real-time transfer buffers.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Traveler Alignment: We optimize for traveler wallet and time, not airline hub loyalty programs.</a:t>
            </a:r>
          </a:p>
        </p:txBody>
      </p:sp>
      <p:sp>
        <p:nvSpPr>
          <p:cNvPr id="4" name="StatCard"/>
          <p:cNvSpPr/>
          <p:nvPr/>
        </p:nvSpPr>
        <p:spPr>
          <a:xfrm><a:off x="8046720" y="1828800"/><a:ext cx="3596640" cy="4297680"/></a:xfrm>
          <a:prstGeom prst="roundRect"><a:avLst><a:gd name="adj" fmla="val 8000"/></a:avLst></a:prstGeom>
          <a:solidFill><a:srgbClr val="1E293B"/></a:solidFill>
          <a:ln w="25400"><a:solidFill><a:srgbClr val="38BDF8"/></a:solidFill></a:ln>
        </p:spPr>
        <p:txBody>
          <a:bodyPr lIns="274320" tIns="457200" rIns="274320" bIns="457200" anchor="ctr"/>
          <a:lstStyle/>
          <a:p>
            <a:pPr algn="ctr"/>
            <a:r>
              <a:rPr lang="en-US" sz="4400" b="1"><a:solidFill><a:srgbClr val="34D399"/></a:solidFill></a:rPr>
              <a:t>First Mover</a:t>
            </a:r>
          </a:p>
          <a:p>
            <a:pPr algn="ctr" spaceBefore="200000"/>
            <a:r>
              <a:rPr lang="en-US" sz="1400"><a:solidFill><a:srgbClr val="94A3B8"/></a:solidFill></a:rPr>
              <a:t>In multimodal reverse opportunity cost discovery</a:t>
            </a:r>
          </a:p>
          <a:p>
            <a:pPr algn="ctr" spaceBefore="350000"/>
            <a:r>
              <a:rPr lang="en-US" sz="1100" i="1"><a:solidFill><a:srgbClr val="64748B"/></a:solidFill>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<a:off x="548640" y="6309360"/><a:ext cx="11094720" cy="365760"/></a:xfrm>
          <a:prstGeom prst="rect"><a:avLst/></a:prstGeom>
          <a:noFill/>
        </p:spPr>
        <p:txBody>
          <a:bodyPr lIns="0" tIns="0" rIns="0" bIns="0"/>
          <a:lstStyle/>
          <a:p>
            <a:r>
              <a:rPr lang="en-US" sz="1000"><a:solidFill><a:srgbClr val="64748B"/></a:solidFill></a:rPr>
              <a:t>FlightDeck — Reverse Multi-Hub Flight Discovery | Slide 8 of 10</a:t>
            </a:r>
          </a:p>
        </p:txBody>
      </p:sp>
    </p:spTree>
  </p:cSld>
  <p:clrMapOvr><a:masterClrMap/></p:clrMapOvr>
</p:sld>
</file>

<file path=ppt/slides/slide9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p:sp>
        <p:nvSpPr>
          <p:cNvPr id="2" name="HeaderCard"/>
          <p:cNvSpPr/>
          <p:nvPr/>
        </p:nvSpPr>
        <p:spPr>
          <a:xfrm><a:off x="548640" y="457200"/><a:ext cx="11094720" cy="1188720"/></a:xfrm>
          <a:prstGeom prst="roundRect"><a:avLst><a:gd name="adj" fmla="val 8000"/></a:avLst></a:prstGeom>
          <a:solidFill><a:srgbClr val="1E293B"/></a:solidFill>
          <a:ln w="19050"><a:solidFill><a:srgbClr val="334155"/></a:solidFill></a:ln>
        </p:spPr>
        <p:txBody>
          <a:bodyPr lIns="274320" tIns="137160" rIns="274320" bIns="137160" anchor="ctr"/>
          <a:lstStyle/>
          <a:p>
            <a:r>
              <a:rPr lang="en-US" sz="2600" b="1"><a:solidFill><a:srgbClr val="38BDF8"/></a:solidFill></a:rPr>
              <a:t>Product Roadmap & Vision</a:t>
            </a:r>
          </a:p>
          <a:p>
            <a:r>
              <a:rPr lang="en-US" sz="1300"><a:solidFill><a:srgbClr val="94A3B8"/></a:solidFill></a:rPr>
              <a:t>From Hackathon Winner to the Intermodal Travel Standard</a:t>
            </a:r>
          </a:p>
        </p:txBody>
      </p:sp>
      <p:sp>
        <p:nvSpPr>
          <p:cNvPr id="3" name="ContentBox"/>
          <p:cNvSpPr/>
          <p:nvPr/>
        </p:nvSpPr>
        <p:spPr>
          <a:xfrm><a:off x="548640" y="1828800"/><a:ext cx="7200000" cy="4297680"/></a:xfrm>
          <a:prstGeom prst="roundRect"><a:avLst><a:gd name="adj" fmla="val 6000"/></a:avLst></a:prstGeom>
          <a:solidFill><a:srgbClr val="0F172A"/></a:solidFill>
          <a:ln w="12700"><a:solidFill><a:srgbClr val="1E293B"/></a:solidFill></a:ln>
        </p:spPr>
        <p:txBody>
          <a:bodyPr lIns="320000" tIns="274320" rIns="320000" bIns="274320"/>
          <a:lstStyle/>
          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Q4 2026: Expansion into European Rail Corridors (Eurostar, DB ICE, Trenitalia, Renfe).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Q1 2027: Luggage Courier Integration (Send bags direct from home to destination airport).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Q2 2027: Mobile App with Real-Time Transit Delay Re-routing &amp; Push Notifications.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Q3 2027: Group Trip Cost Splitting &amp; Multi-Origin Meeting Hub Optimizer.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<a:solidFill><a:srgbClr val="E2E8F0"/></a:solidFill></a:rPr>
              <a:t>Long-Term Vision: The intelligent multimodal operating system for global exploration.</a:t>
            </a:r>
          </a:p>
        </p:txBody>
      </p:sp>
      <p:sp>
        <p:nvSpPr>
          <p:cNvPr id="4" name="StatCard"/>
          <p:cNvSpPr/>
          <p:nvPr/>
        </p:nvSpPr>
        <p:spPr>
          <a:xfrm><a:off x="8046720" y="1828800"/><a:ext cx="3596640" cy="4297680"/></a:xfrm>
          <a:prstGeom prst="roundRect"><a:avLst><a:gd name="adj" fmla="val 8000"/></a:avLst></a:prstGeom>
          <a:solidFill><a:srgbClr val="1E293B"/></a:solidFill>
          <a:ln w="25400"><a:solidFill><a:srgbClr val="38BDF8"/></a:solidFill></a:ln>
        </p:spPr>
        <p:txBody>
          <a:bodyPr lIns="274320" tIns="457200" rIns="274320" bIns="457200" anchor="ctr"/>
          <a:lstStyle/>
          <a:p>
            <a:pPr algn="ctr"/>
            <a:r>
              <a:rPr lang="en-US" sz="4400" b="1"><a:solidFill><a:srgbClr val="34D399"/></a:solidFill></a:rPr>
              <a:t>Global Scale</a:t>
            </a:r>
          </a:p>
          <a:p>
            <a:pPr algn="ctr" spaceBefore="200000"/>
            <a:r>
              <a:rPr lang="en-US" sz="1400"><a:solidFill><a:srgbClr val="94A3B8"/></a:solidFill></a:rPr>
              <a:t>500+ commercial airports and 1,200 high-speed rail corridors</a:t>
            </a:r>
          </a:p>
          <a:p>
            <a:pPr algn="ctr" spaceBefore="350000"/>
            <a:r>
              <a:rPr lang="en-US" sz="1100" i="1"><a:solidFill><a:srgbClr val="64748B"/></a:solidFill>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<a:off x="548640" y="6309360"/><a:ext cx="11094720" cy="365760"/></a:xfrm>
          <a:prstGeom prst="rect"><a:avLst/></a:prstGeom>
          <a:noFill/>
        </p:spPr>
        <p:txBody>
          <a:bodyPr lIns="0" tIns="0" rIns="0" bIns="0"/>
          <a:lstStyle/>
          <a:p>
            <a:r>
              <a:rPr lang="en-US" sz="1000"><a:solidFill><a:srgbClr val="64748B"/></a:solidFill></a:rPr>
              <a:t>FlightDeck — Reverse Multi-Hub Flight Discovery | Slide 9 of 10</a:t>
            </a:r>
          </a:p>
        </p:txBody>
      </p:sp>
    </p:spTree>
  </p:cSld>
  <p:clrMapOvr><a:masterClrMap/>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Card"/>
          <p:cNvSpPr/>
          <p:nvPr/>
        </p:nvSpPr>
        <p:spPr>
          <a:xfrm>
            <a:off x="548640" y="457200"/>
            <a:ext cx="1109472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lIns="274320" tIns="137160" rIns="274320" bIns="137160" anchor="ctr"/>
          <a:lstStyle/>
          <a:p>
            <a:r>
              <a:rPr lang="en-US" sz="2600" b="1">
                <a:solidFill>
                  <a:srgbClr val="38BDF8"/>
                </a:solidFill>
              </a:rPr>
              <a:t>Conclusion: Helping Travelers Explore Smarter</a:t>
            </a:r>
          </a:p>
          <a:p>
            <a:r>
              <a:rPr lang="en-US" sz="1300">
                <a:solidFill>
                  <a:srgbClr val="94A3B8"/>
                </a:solidFill>
              </a:rPr>
              <a:t>The World is Connected. Flight Search Should Be Too.</a:t>
            </a:r>
          </a:p>
        </p:txBody>
      </p:sp>
      <p:sp>
        <p:nvSpPr>
          <p:cNvPr id="3" name="ContentBox"/>
          <p:cNvSpPr/>
          <p:nvPr/>
        </p:nvSpPr>
        <p:spPr>
          <a:xfrm>
            <a:off x="548640" y="1828800"/>
            <a:ext cx="7200000" cy="4297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lIns="320000" tIns="274320" rIns="320000" bIns="274320"/>
          <a:lstStyle/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We solved the multi-tab headache and gave travelers hundreds of dollars back in their pocket.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Production-ready today: Live streaming, interactive maps, cultural readiness, verified revenue path.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Try it now at localhost:3000 — Enter your home base and discover your cheapest regional getaway.</a:t>
            </a:r>
          </a:p>
          <a:p>
            <a:pPr marL="285750" indent="-285750" spaceBefore="120000">
              <a:buFont typeface="Arial"/>
              <a:buChar char="•"/>
            </a:pPr>
            <a:r>
              <a:rPr lang="en-US" sz="1500" b="0">
                <a:solidFill>
                  <a:srgbClr val="E2E8F0"/>
                </a:solidFill>
              </a:rPr>
              <a:t>Thank you! We're ready for your questions.</a:t>
            </a:r>
          </a:p>
        </p:txBody>
      </p:sp>
      <p:sp>
        <p:nvSpPr>
          <p:cNvPr id="4" name="StatCard"/>
          <p:cNvSpPr/>
          <p:nvPr/>
        </p:nvSpPr>
        <p:spPr>
          <a:xfrm>
            <a:off x="8046720" y="1828800"/>
            <a:ext cx="3596640" cy="4297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txBody>
          <a:bodyPr lIns="274320" tIns="457200" rIns="274320" bIns="457200" anchor="ctr"/>
          <a:lstStyle/>
          <a:p>
            <a:pPr algn="ctr"/>
            <a:r>
              <a:rPr lang="en-US" sz="4400" b="1">
                <a:solidFill>
                  <a:srgbClr val="34D399"/>
                </a:solidFill>
              </a:rPr>
              <a:t>FlightDeck</a:t>
            </a:r>
          </a:p>
          <a:p>
            <a:pPr algn="ctr" spaceBefore="200000"/>
            <a:r>
              <a:rPr lang="en-US" sz="1400">
                <a:solidFill>
                  <a:srgbClr val="94A3B8"/>
                </a:solidFill>
              </a:rPr>
              <a:t>Reverse Multi-Hub Flight Discovery | Live Demo Ready</a:t>
            </a:r>
          </a:p>
          <a:p>
            <a:pPr algn="ctr" spaceBefore="350000"/>
            <a:r>
              <a:rPr lang="en-US" sz="1100" i="1">
                <a:solidFill>
                  <a:srgbClr val="64748B"/>
                </a:solidFill>
              </a:rPr>
              <a:t>Verified in Live Production Engine</a:t>
            </a:r>
          </a:p>
        </p:txBody>
      </p:sp>
      <p:sp>
        <p:nvSpPr>
          <p:cNvPr id="5" name="Footer"/>
          <p:cNvSpPr/>
          <p:nvPr/>
        </p:nvSpPr>
        <p:spPr>
          <a:xfrm>
            <a:off x="548640" y="6309360"/>
            <a:ext cx="11094720" cy="36576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en-US" sz="1000">
                <a:solidFill>
                  <a:srgbClr val="64748B"/>
                </a:solidFill>
              </a:rPr>
              <a:t>FlightDeck — Reverse Multi-Hub Flight Discovery | Slide 10 of 10</a:t>
            </a:r>
          </a:p>
        </p:txBody>
      </p:sp>
    </p:spTree>
  </p:cSld>
  <p:clrMapOvr>
    <a:masterClrMap/>
  </p:clrMapOvr>
</p:sld>
</file>

<file path=ppt/theme/theme1.xml><?xml version="1.0" encoding="utf-8"?>
<a:theme xmlns:a="http://schemas.openxmlformats.org/drawingml/2006/main" name="FlightDeck Dark Modern">
  <a:themeElements>
    <a:clrScheme name="FlightDeck">
      <a:dk1>
        <a:srgbClr val="0B0F19"/>
      </a:dk1>
      <a:lt1>
        <a:srgbClr val="F8FAFC"/>
      </a:lt1>
      <a:dk2>
        <a:srgbClr val="1E293B"/>
      </a:dk2>
      <a:lt2>
        <a:srgbClr val="E2E8F0"/>
      </a:lt2>
      <a:accent1>
        <a:srgbClr val="38BDF8"/>
      </a:accent1>
      <a:accent2>
        <a:srgbClr val="10B981"/>
      </a:accent2>
      <a:accent3>
        <a:srgbClr val="6366F1"/>
      </a:accent3>
      <a:accent4>
        <a:srgbClr val="F59E0B"/>
      </a:accent4>
      <a:accent5>
        <a:srgbClr val="EC4899"/>
      </a:accent5>
      <a:accent6>
        <a:srgbClr val="06B6D4"/>
      </a:accent6>
      <a:hlink>
        <a:srgbClr val="38BDF8"/>
      </a:hlink>
      <a:folHlink>
        <a:srgbClr val="818CF8"/>
      </a:folHlink>
    </a:clrScheme>
    <a:fontScheme name="Modern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FlightDeck Pitch Deck Generator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FlightDeck Presentation</dc:title>
  <dc:subject>Reverse Multi-Hub Flight Discovery</dc:subject>
  <dc:creator>FlightDeck Engineering</dc:creator>
  <cp:lastModifiedBy>FlightDeck Engineering</cp:lastModifiedBy>
  <dcterms:created xsi:type="dcterms:W3CDTF">2026-10-11T03:16:50.800209Z</dcterms:created>
  <dcterms:modified xsi:type="dcterms:W3CDTF">2026-10-11T03:16:50.800363Z</dcterms:modified>
</cp:coreProperties>
</file>